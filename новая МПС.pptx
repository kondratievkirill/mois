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10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748A98-1864-CF70-D04C-D1A56E26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27A02FC-910F-9A15-1EC9-792B3C3F2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FDB7CA-59E9-7C5D-2B28-C9F2FD900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EE91-D025-4969-80E1-0A2B185E90AD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AAA7BB-FCA6-4DCA-C8B2-F1A77FD23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B5C39D-34C8-806C-B476-04E470235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C80F-8FFE-450F-A0C2-3848A96F4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62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AE0D7A-39F5-6F49-FFAB-19611B563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9E6C57-A76F-DA97-0BC3-005FD12F0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9B1D6D-3E2F-5D93-BB7D-A900DB8C3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EE91-D025-4969-80E1-0A2B185E90AD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A2C543-0C89-4430-BF01-D9FEDC88B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43F4EC-1E01-F345-54FC-DB8E11E1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C80F-8FFE-450F-A0C2-3848A96F4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663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3F9BE4-B20C-EE52-3063-88A2573B7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3EFDAB-D083-C30B-DEAB-05E14D133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5451FC-4797-394F-4580-E71AE074E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EE91-D025-4969-80E1-0A2B185E90AD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899C7A-A58A-705C-7906-30D34EF99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141E97-BC81-A970-D7FB-1DDBFE64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C80F-8FFE-450F-A0C2-3848A96F4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6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8AB6CA-B56D-46EE-2ADE-A6A5105D3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7F845A-F43E-C562-E6C0-60054447D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1B24A4-3C79-7FA3-8AC9-695A9B547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DA7786-B1C4-8401-6F89-A2CD60F56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EE91-D025-4969-80E1-0A2B185E90AD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EC3BA5-6F8B-6133-A7EF-9DC76357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DE79D6-F102-A199-F343-3BBF8574F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C80F-8FFE-450F-A0C2-3848A96F4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330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74DAE8-3B2C-BD22-1016-D49FEFD1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F02CB7-492B-4341-E45C-689F048B1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034641-1E71-B498-683F-2DDD6AB1C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B16DD58-9C64-5C9B-F3E9-1AAC0B66FC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4B16045-A4AB-FCC6-E495-0C35AB1F4E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DEF1980-3E77-CA11-4D57-A1FCA587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EE91-D025-4969-80E1-0A2B185E90AD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024455C-7634-B709-AFA6-7157A412D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455A70E-957A-CE5E-4DC4-9B2DB18C3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C80F-8FFE-450F-A0C2-3848A96F4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202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D06B7A-B551-AF71-E90E-C1DD4526D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9372297-040F-B377-DE7C-81B28B12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EE91-D025-4969-80E1-0A2B185E90AD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2783986-CBE6-11CE-B2D8-BF7894CF6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9B766D-DC3D-CA5F-EF6C-190B1203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C80F-8FFE-450F-A0C2-3848A96F4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446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EEE7861-62A5-803B-B22B-5F9176672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EE91-D025-4969-80E1-0A2B185E90AD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A2CD535-CFB3-6FDE-1FA5-1324E078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87A547-CD12-62FB-751A-1D33A3587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C80F-8FFE-450F-A0C2-3848A96F4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092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D92762-6A7F-AA28-787B-C3C4DA513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ADED3C-25BB-DAB3-03CB-94ACBD81F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3EF104-598D-18D7-699C-316809D22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4DBA88-A716-F5F5-19E6-D8A0BB51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EE91-D025-4969-80E1-0A2B185E90AD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DAE2B4-867F-F56F-5B97-C8026E6E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687D6B-2075-67A5-0609-A2FA4AC2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C80F-8FFE-450F-A0C2-3848A96F4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93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FB2843-4C7B-02A3-BF60-3C383E75E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E914DB1-F420-6991-222E-FEEF155374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AB49CAE-6EC4-BF9B-408A-21063686D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B07961-0EFC-62A6-4D58-B4EBF3EE4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EE91-D025-4969-80E1-0A2B185E90AD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3E25DD-B4A9-9FBE-79FD-8446592F7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3DA58B-FBD8-B8F7-C5F7-7C0A8E938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C80F-8FFE-450F-A0C2-3848A96F4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338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2530D6-C651-7EC5-E1A6-DC264451B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D663DFF-976B-9E5B-2FD0-F0A931C4C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B15CEA-2132-7DC5-825A-B8F1CC09E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EE91-D025-4969-80E1-0A2B185E90AD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AE087-491C-A124-58BC-4360C8293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259FA9-D2D9-7E6F-7C5C-2B38051A2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C80F-8FFE-450F-A0C2-3848A96F4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775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92F3710-8DBE-D6E7-B041-9538DD71E7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9DB285B-401D-B562-71FF-CB9162090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765385-D6DE-0181-DE29-6F51565E1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EE91-D025-4969-80E1-0A2B185E90AD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71E2DB-590C-FEA7-B00A-9B65B99ED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DDDF07-354F-B53C-BBB9-13829219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C80F-8FFE-450F-A0C2-3848A96F4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7746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6E47C2-CC66-51F3-5B44-2A1832279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7B71E6-4478-6E88-2B97-BDCF91D63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3BC2C2-E82C-76F4-6F90-97F3061D3F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3EE91-D025-4969-80E1-0A2B185E90AD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299785-2C06-796D-E3F8-D66A38C2D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17E03A-3822-4DD5-7A73-20758EDBD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1C80F-8FFE-450F-A0C2-3848A96F4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1497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D6F04E-4E26-3A99-831A-7D4AEC9D3342}"/>
                  </a:ext>
                </a:extLst>
              </p:cNvPr>
              <p:cNvSpPr txBox="1"/>
              <p:nvPr/>
            </p:nvSpPr>
            <p:spPr>
              <a:xfrm>
                <a:off x="1317538" y="922292"/>
                <a:ext cx="9222775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a:fld id="{825F15A7-03F4-43D7-82C5-3E23DA2F108C}" type="mathplaceholder">
                      <a:rPr lang="ru-RU" i="1" smtClean="0">
                        <a:latin typeface="Cambria Math" panose="02040503050406030204" pitchFamily="18" charset="0"/>
                      </a:rPr>
                      <a:t>Место для уравнения.</a:t>
                    </a:fld>
                  </m:oMath>
                </a14:m>
                <a:r>
                  <a:rPr lang="ru-RU" dirty="0"/>
                  <a:t>Для начала необходимо описать уравнения динамики объекта. Динамика скоростей бортов</a:t>
                </a:r>
              </a:p>
              <a:p>
                <a:r>
                  <a:rPr lang="ru-RU" dirty="0"/>
                  <a:t>описывается инерционным звеном первого порядка: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D6F04E-4E26-3A99-831A-7D4AEC9D3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538" y="922292"/>
                <a:ext cx="9222775" cy="923330"/>
              </a:xfrm>
              <a:prstGeom prst="rect">
                <a:avLst/>
              </a:prstGeom>
              <a:blipFill>
                <a:blip r:embed="rId2"/>
                <a:stretch>
                  <a:fillRect l="-529" t="-3289" b="-9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851C42-4F0E-FDB3-455D-D59111722413}"/>
                  </a:ext>
                </a:extLst>
              </p:cNvPr>
              <p:cNvSpPr txBox="1"/>
              <p:nvPr/>
            </p:nvSpPr>
            <p:spPr>
              <a:xfrm>
                <a:off x="4627257" y="2685479"/>
                <a:ext cx="13050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acc>
                        <m:accPr>
                          <m:chr m:val="̇"/>
                          <m:ctrlP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𝐾𝑢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851C42-4F0E-FDB3-455D-D59111722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257" y="2685479"/>
                <a:ext cx="1305037" cy="276999"/>
              </a:xfrm>
              <a:prstGeom prst="rect">
                <a:avLst/>
              </a:prstGeom>
              <a:blipFill>
                <a:blip r:embed="rId3"/>
                <a:stretch>
                  <a:fillRect l="-2336" t="-4444" r="-4206"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03AAD9C-69D9-F80C-8B7A-17C422ED6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449" y="3802336"/>
            <a:ext cx="4045519" cy="145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1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C683F-336D-C694-0BC2-EDAD3675D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CF920F-51CD-1F55-2C4B-E667CCCAD2F9}"/>
                  </a:ext>
                </a:extLst>
              </p:cNvPr>
              <p:cNvSpPr txBox="1"/>
              <p:nvPr/>
            </p:nvSpPr>
            <p:spPr>
              <a:xfrm>
                <a:off x="4453449" y="2685479"/>
                <a:ext cx="1242776" cy="4730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CF920F-51CD-1F55-2C4B-E667CCCAD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449" y="2685479"/>
                <a:ext cx="1242776" cy="4730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C2AF21D-6472-EC48-B31C-96BAD121801D}"/>
              </a:ext>
            </a:extLst>
          </p:cNvPr>
          <p:cNvSpPr txBox="1"/>
          <p:nvPr/>
        </p:nvSpPr>
        <p:spPr>
          <a:xfrm>
            <a:off x="563880" y="43121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Угловая скорость поворота зависит от разности скоростей левого и правого бортов: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C4B0BE0-4141-C2D2-95D4-3EE72333B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" y="4032303"/>
            <a:ext cx="7290409" cy="162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780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20D32C-1284-5879-55AD-BBC4771EF853}"/>
                  </a:ext>
                </a:extLst>
              </p:cNvPr>
              <p:cNvSpPr txBox="1"/>
              <p:nvPr/>
            </p:nvSpPr>
            <p:spPr>
              <a:xfrm>
                <a:off x="4794664" y="2639759"/>
                <a:ext cx="2602671" cy="5028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20D32C-1284-5879-55AD-BBC4771EF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664" y="2639759"/>
                <a:ext cx="2602671" cy="5028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1747A78-BB24-FF09-A894-534FEBA03465}"/>
              </a:ext>
            </a:extLst>
          </p:cNvPr>
          <p:cNvSpPr txBox="1"/>
          <p:nvPr/>
        </p:nvSpPr>
        <p:spPr>
          <a:xfrm>
            <a:off x="536716" y="468443"/>
            <a:ext cx="7475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Скорость бокового отклонения платформы находится следующим образом:</a:t>
            </a:r>
          </a:p>
        </p:txBody>
      </p:sp>
    </p:spTree>
    <p:extLst>
      <p:ext uri="{BB962C8B-B14F-4D97-AF65-F5344CB8AC3E}">
        <p14:creationId xmlns:p14="http://schemas.microsoft.com/office/powerpoint/2010/main" val="3121541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A69DB4-1555-475E-4BFA-6017B1F0F1FC}"/>
                  </a:ext>
                </a:extLst>
              </p:cNvPr>
              <p:cNvSpPr txBox="1"/>
              <p:nvPr/>
            </p:nvSpPr>
            <p:spPr>
              <a:xfrm>
                <a:off x="5084248" y="2311963"/>
                <a:ext cx="2023503" cy="2234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ru-RU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A69DB4-1555-475E-4BFA-6017B1F0F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248" y="2311963"/>
                <a:ext cx="2023503" cy="22340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8197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502A83-6BE8-4B4E-5AAF-7120E5242A6A}"/>
              </a:ext>
            </a:extLst>
          </p:cNvPr>
          <p:cNvSpPr txBox="1"/>
          <p:nvPr/>
        </p:nvSpPr>
        <p:spPr>
          <a:xfrm>
            <a:off x="746760" y="594360"/>
            <a:ext cx="5031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Производим линеаризацию в окрестности точек: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33437AC-CCEE-D1E3-B1E6-E9A134AB7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548" y="2950828"/>
            <a:ext cx="1731756" cy="4781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00ADB3-8388-CEBC-E5F0-5B0421FDC7E7}"/>
                  </a:ext>
                </a:extLst>
              </p:cNvPr>
              <p:cNvSpPr txBox="1"/>
              <p:nvPr/>
            </p:nvSpPr>
            <p:spPr>
              <a:xfrm>
                <a:off x="7349373" y="2311962"/>
                <a:ext cx="1711173" cy="1941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ru-RU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00ADB3-8388-CEBC-E5F0-5B0421FDC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373" y="2311962"/>
                <a:ext cx="1711173" cy="19418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178013-32FB-C226-0C6F-783EECCE0ED3}"/>
                  </a:ext>
                </a:extLst>
              </p:cNvPr>
              <p:cNvSpPr txBox="1"/>
              <p:nvPr/>
            </p:nvSpPr>
            <p:spPr>
              <a:xfrm>
                <a:off x="1906150" y="2311962"/>
                <a:ext cx="2023503" cy="2234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ru-RU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178013-32FB-C226-0C6F-783EECCE0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150" y="2311962"/>
                <a:ext cx="2023503" cy="22340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276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6AD6C5-EC94-C782-3EC7-34426DF3D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595" y="2045855"/>
            <a:ext cx="6738809" cy="276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701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D2D7BA-4DD6-D75E-3815-F3E19CE04FAC}"/>
              </a:ext>
            </a:extLst>
          </p:cNvPr>
          <p:cNvSpPr txBox="1"/>
          <p:nvPr/>
        </p:nvSpPr>
        <p:spPr>
          <a:xfrm>
            <a:off x="815340" y="1965960"/>
            <a:ext cx="4427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Используется нормированное управление: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DD3EC5-2EAF-4A8B-08F9-5F5BE12A4F8D}"/>
                  </a:ext>
                </a:extLst>
              </p:cNvPr>
              <p:cNvSpPr txBox="1"/>
              <p:nvPr/>
            </p:nvSpPr>
            <p:spPr>
              <a:xfrm>
                <a:off x="5570220" y="2012126"/>
                <a:ext cx="9291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∈[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DD3EC5-2EAF-4A8B-08F9-5F5BE12A4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220" y="2012126"/>
                <a:ext cx="929165" cy="276999"/>
              </a:xfrm>
              <a:prstGeom prst="rect">
                <a:avLst/>
              </a:prstGeom>
              <a:blipFill>
                <a:blip r:embed="rId2"/>
                <a:stretch>
                  <a:fillRect l="-3289" t="-2174" r="-9211" b="-369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941830-11B4-CE8F-4546-7A56C3C50E0B}"/>
                  </a:ext>
                </a:extLst>
              </p:cNvPr>
              <p:cNvSpPr txBox="1"/>
              <p:nvPr/>
            </p:nvSpPr>
            <p:spPr>
              <a:xfrm>
                <a:off x="5015164" y="2804160"/>
                <a:ext cx="20392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𝑃𝑊𝑀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255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941830-11B4-CE8F-4546-7A56C3C50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164" y="2804160"/>
                <a:ext cx="2039276" cy="276999"/>
              </a:xfrm>
              <a:prstGeom prst="rect">
                <a:avLst/>
              </a:prstGeom>
              <a:blipFill>
                <a:blip r:embed="rId3"/>
                <a:stretch>
                  <a:fillRect l="-2395" t="-2222" r="-3892" b="-3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9567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9BA3AA-ACBE-C5F1-9B39-B872C83D1369}"/>
              </a:ext>
            </a:extLst>
          </p:cNvPr>
          <p:cNvSpPr txBox="1"/>
          <p:nvPr/>
        </p:nvSpPr>
        <p:spPr>
          <a:xfrm>
            <a:off x="522358" y="514588"/>
            <a:ext cx="8740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Расширение базовой системы под удержание расстояния до впередиидущего объекта.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FCD15A-DF84-12C8-55CE-FF927043C342}"/>
                  </a:ext>
                </a:extLst>
              </p:cNvPr>
              <p:cNvSpPr txBox="1"/>
              <p:nvPr/>
            </p:nvSpPr>
            <p:spPr>
              <a:xfrm>
                <a:off x="522358" y="1368028"/>
                <a:ext cx="5573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расстояние, полученное с ультразвукового датчика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FCD15A-DF84-12C8-55CE-FF927043C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58" y="1368028"/>
                <a:ext cx="5573642" cy="369332"/>
              </a:xfrm>
              <a:prstGeom prst="rect">
                <a:avLst/>
              </a:prstGeom>
              <a:blipFill>
                <a:blip r:embed="rId2"/>
                <a:stretch>
                  <a:fillRect t="-8197" r="-1204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E7BAB2-7A59-C6BC-07AD-C19942A26B01}"/>
                  </a:ext>
                </a:extLst>
              </p:cNvPr>
              <p:cNvSpPr txBox="1"/>
              <p:nvPr/>
            </p:nvSpPr>
            <p:spPr>
              <a:xfrm>
                <a:off x="522358" y="1924288"/>
                <a:ext cx="2825197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целевое расстояние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E7BAB2-7A59-C6BC-07AD-C19942A26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58" y="1924288"/>
                <a:ext cx="2825197" cy="391582"/>
              </a:xfrm>
              <a:prstGeom prst="rect">
                <a:avLst/>
              </a:prstGeom>
              <a:blipFill>
                <a:blip r:embed="rId3"/>
                <a:stretch>
                  <a:fillRect t="-7813" r="-1512" b="-203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0976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5CF345-AF0B-39C4-E387-3FE51F2016B4}"/>
              </a:ext>
            </a:extLst>
          </p:cNvPr>
          <p:cNvSpPr txBox="1"/>
          <p:nvPr/>
        </p:nvSpPr>
        <p:spPr>
          <a:xfrm>
            <a:off x="1661160" y="807720"/>
            <a:ext cx="249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Измеряемые величины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89A65-8BED-52E8-E08A-261A94ED5A30}"/>
                  </a:ext>
                </a:extLst>
              </p:cNvPr>
              <p:cNvSpPr txBox="1"/>
              <p:nvPr/>
            </p:nvSpPr>
            <p:spPr>
              <a:xfrm>
                <a:off x="1722120" y="1531620"/>
                <a:ext cx="39600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Расстояние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ультразвуковой датчик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89A65-8BED-52E8-E08A-261A94ED5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120" y="1531620"/>
                <a:ext cx="3960058" cy="369332"/>
              </a:xfrm>
              <a:prstGeom prst="rect">
                <a:avLst/>
              </a:prstGeom>
              <a:blipFill>
                <a:blip r:embed="rId2"/>
                <a:stretch>
                  <a:fillRect l="-1387" t="-8197" r="-1233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B6FA8D-6430-0F31-7649-A675227EFC8E}"/>
                  </a:ext>
                </a:extLst>
              </p:cNvPr>
              <p:cNvSpPr txBox="1"/>
              <p:nvPr/>
            </p:nvSpPr>
            <p:spPr>
              <a:xfrm>
                <a:off x="1722120" y="2255520"/>
                <a:ext cx="19141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Угол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гироскоп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B6FA8D-6430-0F31-7649-A675227EF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120" y="2255520"/>
                <a:ext cx="1914114" cy="369332"/>
              </a:xfrm>
              <a:prstGeom prst="rect">
                <a:avLst/>
              </a:prstGeom>
              <a:blipFill>
                <a:blip r:embed="rId3"/>
                <a:stretch>
                  <a:fillRect l="-2875" t="-8197" r="-3514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AEE220F-C0A7-8461-6950-60AAC88C17E0}"/>
              </a:ext>
            </a:extLst>
          </p:cNvPr>
          <p:cNvSpPr txBox="1"/>
          <p:nvPr/>
        </p:nvSpPr>
        <p:spPr>
          <a:xfrm>
            <a:off x="1722120" y="2785349"/>
            <a:ext cx="2789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</a:t>
            </a:r>
            <a:r>
              <a:rPr lang="en-US" dirty="0"/>
              <a:t> </a:t>
            </a:r>
            <a:r>
              <a:rPr lang="ru-RU" dirty="0"/>
              <a:t>измеряемые величины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AC9133-EB41-36C5-21D7-E87C65B2135A}"/>
                  </a:ext>
                </a:extLst>
              </p:cNvPr>
              <p:cNvSpPr txBox="1"/>
              <p:nvPr/>
            </p:nvSpPr>
            <p:spPr>
              <a:xfrm>
                <a:off x="1783080" y="3324583"/>
                <a:ext cx="17059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Скорости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AC9133-EB41-36C5-21D7-E87C65B21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080" y="3324583"/>
                <a:ext cx="1705980" cy="369332"/>
              </a:xfrm>
              <a:prstGeom prst="rect">
                <a:avLst/>
              </a:prstGeom>
              <a:blipFill>
                <a:blip r:embed="rId4"/>
                <a:stretch>
                  <a:fillRect l="-3226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F98E74-E164-47C0-7C98-233E24C6BA5C}"/>
                  </a:ext>
                </a:extLst>
              </p:cNvPr>
              <p:cNvSpPr txBox="1"/>
              <p:nvPr/>
            </p:nvSpPr>
            <p:spPr>
              <a:xfrm>
                <a:off x="1783080" y="3854412"/>
                <a:ext cx="22976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Боковое смещение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F98E74-E164-47C0-7C98-233E24C6B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080" y="3854412"/>
                <a:ext cx="2297617" cy="369332"/>
              </a:xfrm>
              <a:prstGeom prst="rect">
                <a:avLst/>
              </a:prstGeom>
              <a:blipFill>
                <a:blip r:embed="rId5"/>
                <a:stretch>
                  <a:fillRect l="-2394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6156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27A40-E5D7-B7C8-757E-75AC40DAD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00D8E7-EC2E-474B-AC82-AF5791D872F8}"/>
              </a:ext>
            </a:extLst>
          </p:cNvPr>
          <p:cNvSpPr txBox="1"/>
          <p:nvPr/>
        </p:nvSpPr>
        <p:spPr>
          <a:xfrm>
            <a:off x="522358" y="514588"/>
            <a:ext cx="8740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Расширение базовой системы под удержание расстояния до впередиидущего объекта.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5ADF2E-DDD1-A8F2-99FF-3BA1A689A5BB}"/>
                  </a:ext>
                </a:extLst>
              </p:cNvPr>
              <p:cNvSpPr txBox="1"/>
              <p:nvPr/>
            </p:nvSpPr>
            <p:spPr>
              <a:xfrm>
                <a:off x="522358" y="1063228"/>
                <a:ext cx="5573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расстояние, полученное с ультразвукового датчика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5ADF2E-DDD1-A8F2-99FF-3BA1A689A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58" y="1063228"/>
                <a:ext cx="5573642" cy="369332"/>
              </a:xfrm>
              <a:prstGeom prst="rect">
                <a:avLst/>
              </a:prstGeom>
              <a:blipFill>
                <a:blip r:embed="rId2"/>
                <a:stretch>
                  <a:fillRect t="-8197" r="-54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E9C6E0-8F21-5D8E-F387-D38D49D6372F}"/>
                  </a:ext>
                </a:extLst>
              </p:cNvPr>
              <p:cNvSpPr txBox="1"/>
              <p:nvPr/>
            </p:nvSpPr>
            <p:spPr>
              <a:xfrm>
                <a:off x="522358" y="1619488"/>
                <a:ext cx="2825197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целевое расстояние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E9C6E0-8F21-5D8E-F387-D38D49D63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58" y="1619488"/>
                <a:ext cx="2825197" cy="391582"/>
              </a:xfrm>
              <a:prstGeom prst="rect">
                <a:avLst/>
              </a:prstGeom>
              <a:blipFill>
                <a:blip r:embed="rId3"/>
                <a:stretch>
                  <a:fillRect t="-7813" r="-1512" b="-203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A11342-F1FC-C90E-B37B-3771C21291FE}"/>
                  </a:ext>
                </a:extLst>
              </p:cNvPr>
              <p:cNvSpPr txBox="1"/>
              <p:nvPr/>
            </p:nvSpPr>
            <p:spPr>
              <a:xfrm>
                <a:off x="670560" y="2628900"/>
                <a:ext cx="7499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Пускай впереди идущий объект движется с неизменной скоростью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𝑙𝑒𝑎𝑑𝑒𝑟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A11342-F1FC-C90E-B37B-3771C2129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" y="2628900"/>
                <a:ext cx="7499874" cy="369332"/>
              </a:xfrm>
              <a:prstGeom prst="rect">
                <a:avLst/>
              </a:prstGeom>
              <a:blipFill>
                <a:blip r:embed="rId4"/>
                <a:stretch>
                  <a:fillRect l="-650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3407817-FEBF-A2D3-E51C-EDC4DDFBC34E}"/>
              </a:ext>
            </a:extLst>
          </p:cNvPr>
          <p:cNvSpPr txBox="1"/>
          <p:nvPr/>
        </p:nvSpPr>
        <p:spPr>
          <a:xfrm>
            <a:off x="670560" y="3207410"/>
            <a:ext cx="705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Тогда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775436-B059-CFEF-48D9-A4C4A4206557}"/>
                  </a:ext>
                </a:extLst>
              </p:cNvPr>
              <p:cNvSpPr txBox="1"/>
              <p:nvPr/>
            </p:nvSpPr>
            <p:spPr>
              <a:xfrm>
                <a:off x="670560" y="3943894"/>
                <a:ext cx="2231637" cy="5013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𝑙𝑒𝑎𝑑𝑒𝑟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775436-B059-CFEF-48D9-A4C4A4206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" y="3943894"/>
                <a:ext cx="2231637" cy="5013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7728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B81C0E-452C-1421-218D-9A98B525B571}"/>
              </a:ext>
            </a:extLst>
          </p:cNvPr>
          <p:cNvSpPr txBox="1"/>
          <p:nvPr/>
        </p:nvSpPr>
        <p:spPr>
          <a:xfrm>
            <a:off x="678180" y="426720"/>
            <a:ext cx="8939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Для синтеза регулятора линеаризуем её в окрестности установившегося следования, где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4B786C-C7D6-3019-9015-39B0E48B5A11}"/>
                  </a:ext>
                </a:extLst>
              </p:cNvPr>
              <p:cNvSpPr txBox="1"/>
              <p:nvPr/>
            </p:nvSpPr>
            <p:spPr>
              <a:xfrm>
                <a:off x="2947679" y="1158240"/>
                <a:ext cx="4400564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𝑟𝑜𝑏𝑜𝑡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𝑙𝑒𝑎𝑑𝑒𝑟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𝑟𝑜𝑏𝑜𝑡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4B786C-C7D6-3019-9015-39B0E48B5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679" y="1158240"/>
                <a:ext cx="4400564" cy="299249"/>
              </a:xfrm>
              <a:prstGeom prst="rect">
                <a:avLst/>
              </a:prstGeom>
              <a:blipFill>
                <a:blip r:embed="rId2"/>
                <a:stretch>
                  <a:fillRect l="-277" b="-265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056F54-CA63-9E00-9B6D-2FE79B492136}"/>
                  </a:ext>
                </a:extLst>
              </p:cNvPr>
              <p:cNvSpPr txBox="1"/>
              <p:nvPr/>
            </p:nvSpPr>
            <p:spPr>
              <a:xfrm>
                <a:off x="678180" y="1889760"/>
                <a:ext cx="28973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В отклонениях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056F54-CA63-9E00-9B6D-2FE79B492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" y="1889760"/>
                <a:ext cx="2897332" cy="369332"/>
              </a:xfrm>
              <a:prstGeom prst="rect">
                <a:avLst/>
              </a:prstGeom>
              <a:blipFill>
                <a:blip r:embed="rId3"/>
                <a:stretch>
                  <a:fillRect l="-1681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AB9138-5433-8F7C-2378-AB96A067A005}"/>
                  </a:ext>
                </a:extLst>
              </p:cNvPr>
              <p:cNvSpPr txBox="1"/>
              <p:nvPr/>
            </p:nvSpPr>
            <p:spPr>
              <a:xfrm>
                <a:off x="2598420" y="2977634"/>
                <a:ext cx="6096000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acc>
                        <m:accPr>
                          <m:chr m:val="̇"/>
                          <m:ctrlP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AB9138-5433-8F7C-2378-AB96A067A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420" y="2977634"/>
                <a:ext cx="6096000" cy="6347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304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656D2C-D4A5-919F-ECD2-D88093EF2A8F}"/>
                  </a:ext>
                </a:extLst>
              </p:cNvPr>
              <p:cNvSpPr txBox="1"/>
              <p:nvPr/>
            </p:nvSpPr>
            <p:spPr>
              <a:xfrm>
                <a:off x="1371600" y="769620"/>
                <a:ext cx="6736080" cy="662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Чтобы компенсировать постоянное возмущение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/>
                          <m:t>leader</m:t>
                        </m:r>
                      </m:sub>
                    </m:sSub>
                  </m:oMath>
                </a14:m>
                <a:r>
                  <a:rPr lang="ar-AE" dirty="0"/>
                  <a:t> </a:t>
                </a:r>
                <a:r>
                  <a:rPr lang="ru-RU" dirty="0"/>
                  <a:t>и убрать статическую ошибку, добавим интегратор ошибки расстояния: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656D2C-D4A5-919F-ECD2-D88093EF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769620"/>
                <a:ext cx="6736080" cy="662169"/>
              </a:xfrm>
              <a:prstGeom prst="rect">
                <a:avLst/>
              </a:prstGeom>
              <a:blipFill>
                <a:blip r:embed="rId2"/>
                <a:stretch>
                  <a:fillRect l="-724" t="-4587" b="-137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5613A1-CADD-2B9C-CC8A-A58E48FCCB05}"/>
                  </a:ext>
                </a:extLst>
              </p:cNvPr>
              <p:cNvSpPr txBox="1"/>
              <p:nvPr/>
            </p:nvSpPr>
            <p:spPr>
              <a:xfrm>
                <a:off x="3915563" y="2057400"/>
                <a:ext cx="4360874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5613A1-CADD-2B9C-CC8A-A58E48FCC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563" y="2057400"/>
                <a:ext cx="4360874" cy="7265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EFB4B3A-7EA0-69A4-5588-E168B3BAB266}"/>
              </a:ext>
            </a:extLst>
          </p:cNvPr>
          <p:cNvSpPr txBox="1"/>
          <p:nvPr/>
        </p:nvSpPr>
        <p:spPr>
          <a:xfrm>
            <a:off x="1371600" y="3244334"/>
            <a:ext cx="4359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Получаем расширенный вектор состояния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F794CA-9D44-01C4-9FDC-CEF3FE27AF86}"/>
                  </a:ext>
                </a:extLst>
              </p:cNvPr>
              <p:cNvSpPr txBox="1"/>
              <p:nvPr/>
            </p:nvSpPr>
            <p:spPr>
              <a:xfrm>
                <a:off x="339459" y="4388161"/>
                <a:ext cx="1032141" cy="15956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F794CA-9D44-01C4-9FDC-CEF3FE27A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59" y="4388161"/>
                <a:ext cx="1032141" cy="15956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F7FB70-9E4C-8A5B-6BA2-CE851B0CEF4C}"/>
                  </a:ext>
                </a:extLst>
              </p:cNvPr>
              <p:cNvSpPr txBox="1"/>
              <p:nvPr/>
            </p:nvSpPr>
            <p:spPr>
              <a:xfrm>
                <a:off x="1606445" y="3831823"/>
                <a:ext cx="3213059" cy="27083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F7FB70-9E4C-8A5B-6BA2-CE851B0CE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445" y="3831823"/>
                <a:ext cx="3213059" cy="27083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CE5C586-F607-6816-C35E-182B3F41CF4E}"/>
                  </a:ext>
                </a:extLst>
              </p:cNvPr>
              <p:cNvSpPr txBox="1"/>
              <p:nvPr/>
            </p:nvSpPr>
            <p:spPr>
              <a:xfrm>
                <a:off x="5412246" y="4125942"/>
                <a:ext cx="1242969" cy="21200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CE5C586-F607-6816-C35E-182B3F41C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246" y="4125942"/>
                <a:ext cx="1242969" cy="21200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3F87FE-55F2-A63F-F30C-D80A74100823}"/>
                  </a:ext>
                </a:extLst>
              </p:cNvPr>
              <p:cNvSpPr txBox="1"/>
              <p:nvPr/>
            </p:nvSpPr>
            <p:spPr>
              <a:xfrm>
                <a:off x="7191021" y="4125942"/>
                <a:ext cx="3022430" cy="7511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3F87FE-55F2-A63F-F30C-D80A74100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021" y="4125942"/>
                <a:ext cx="3022430" cy="7511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424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158DC4-CAA9-0760-65D8-3AF21199184F}"/>
              </a:ext>
            </a:extLst>
          </p:cNvPr>
          <p:cNvSpPr txBox="1"/>
          <p:nvPr/>
        </p:nvSpPr>
        <p:spPr>
          <a:xfrm>
            <a:off x="3476116" y="3105835"/>
            <a:ext cx="2024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Закон управления: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826E2C-28B7-D6E7-FAA9-C222E6C282C4}"/>
                  </a:ext>
                </a:extLst>
              </p:cNvPr>
              <p:cNvSpPr txBox="1"/>
              <p:nvPr/>
            </p:nvSpPr>
            <p:spPr>
              <a:xfrm>
                <a:off x="6023871" y="3152001"/>
                <a:ext cx="13015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𝐾𝑥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826E2C-28B7-D6E7-FAA9-C222E6C28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871" y="3152001"/>
                <a:ext cx="1301575" cy="276999"/>
              </a:xfrm>
              <a:prstGeom prst="rect">
                <a:avLst/>
              </a:prstGeom>
              <a:blipFill>
                <a:blip r:embed="rId2"/>
                <a:stretch>
                  <a:fillRect l="-2336" r="-3738" b="-13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0349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257</Words>
  <Application>Microsoft Office PowerPoint</Application>
  <PresentationFormat>Широкоэкранный</PresentationFormat>
  <Paragraphs>42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Кирилл Кондратьев</cp:lastModifiedBy>
  <cp:revision>22</cp:revision>
  <dcterms:created xsi:type="dcterms:W3CDTF">2026-05-15T20:52:54Z</dcterms:created>
  <dcterms:modified xsi:type="dcterms:W3CDTF">2026-05-21T19:24:42Z</dcterms:modified>
</cp:coreProperties>
</file>